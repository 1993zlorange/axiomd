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2f2dbc37394ab5" /><Relationship Type="http://schemas.openxmlformats.org/officeDocument/2006/relationships/extended-properties" Target="/docProps/app.xml" Id="R6836f4b9ec01420a" /><Relationship Type="http://schemas.openxmlformats.org/officeDocument/2006/relationships/officeDocument" Target="/ppt/presentation.xml" Id="R157a5c1e07f049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5cd4c51f354e6a"/>
  </p:sldMasterIdLst>
  <p:notesMasterIdLst>
    <p:notesMasterId xmlns:r="http://schemas.openxmlformats.org/officeDocument/2006/relationships" r:id="Rc51668ece19c4da2"/>
  </p:notesMasterIdLst>
  <p:sldIdLst>
    <p:sldId xmlns:r="http://schemas.openxmlformats.org/officeDocument/2006/relationships" id="256" r:id="R6a83a4aa88e442fb"/>
    <p:sldId xmlns:r="http://schemas.openxmlformats.org/officeDocument/2006/relationships" id="257" r:id="Ra77984e4b9d44480"/>
    <p:sldId xmlns:r="http://schemas.openxmlformats.org/officeDocument/2006/relationships" id="258" r:id="Rf8bfbd0a1dba44b5"/>
    <p:sldId xmlns:r="http://schemas.openxmlformats.org/officeDocument/2006/relationships" id="259" r:id="Rc462fa4f26f44b59"/>
    <p:sldId xmlns:r="http://schemas.openxmlformats.org/officeDocument/2006/relationships" id="260" r:id="R534a33db77154bef"/>
    <p:sldId xmlns:r="http://schemas.openxmlformats.org/officeDocument/2006/relationships" id="261" r:id="R2f4e5d6818d34882"/>
    <p:sldId xmlns:r="http://schemas.openxmlformats.org/officeDocument/2006/relationships" id="262" r:id="R9c79dd06e67c4291"/>
    <p:sldId xmlns:r="http://schemas.openxmlformats.org/officeDocument/2006/relationships" id="263" r:id="R536fa7d612e243bd"/>
    <p:sldId xmlns:r="http://schemas.openxmlformats.org/officeDocument/2006/relationships" id="264" r:id="R488e3f280b3d48b6"/>
    <p:sldId xmlns:r="http://schemas.openxmlformats.org/officeDocument/2006/relationships" id="265" r:id="R14ebea35aa6f4178"/>
    <p:sldId xmlns:r="http://schemas.openxmlformats.org/officeDocument/2006/relationships" id="266" r:id="R593a73505cb64bf7"/>
    <p:sldId xmlns:r="http://schemas.openxmlformats.org/officeDocument/2006/relationships" id="267" r:id="R6217c1fa72d549ae"/>
    <p:sldId xmlns:r="http://schemas.openxmlformats.org/officeDocument/2006/relationships" id="268" r:id="R5f5a7cdefb2d4e0c"/>
    <p:sldId xmlns:r="http://schemas.openxmlformats.org/officeDocument/2006/relationships" id="269" r:id="R07521716eb764310"/>
    <p:sldId xmlns:r="http://schemas.openxmlformats.org/officeDocument/2006/relationships" id="270" r:id="Rae0d75ee592e42e2"/>
    <p:sldId xmlns:r="http://schemas.openxmlformats.org/officeDocument/2006/relationships" id="271" r:id="Rf042548760fe4a9b"/>
    <p:sldId xmlns:r="http://schemas.openxmlformats.org/officeDocument/2006/relationships" id="272" r:id="R8db68580991a4dfd"/>
    <p:sldId xmlns:r="http://schemas.openxmlformats.org/officeDocument/2006/relationships" id="273" r:id="R177a881dd2454140"/>
    <p:sldId xmlns:r="http://schemas.openxmlformats.org/officeDocument/2006/relationships" id="274" r:id="Raa9af29004b34e8c"/>
    <p:sldId xmlns:r="http://schemas.openxmlformats.org/officeDocument/2006/relationships" id="275" r:id="R05e163d74f3d4b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c739a00ff344df" /><Relationship Type="http://schemas.openxmlformats.org/officeDocument/2006/relationships/slideMaster" Target="/ppt/slideMasters/slideMaster1.xml" Id="R605cd4c51f354e6a" /><Relationship Type="http://schemas.openxmlformats.org/officeDocument/2006/relationships/notesMaster" Target="/ppt/notesMasters/notesMaster1.xml" Id="Rc51668ece19c4da2" /><Relationship Type="http://schemas.openxmlformats.org/officeDocument/2006/relationships/presProps" Target="/ppt/presProps.xml" Id="Rb5eacf78cff445e5" /><Relationship Type="http://schemas.openxmlformats.org/officeDocument/2006/relationships/tableStyles" Target="/ppt/tableStyles.xml" Id="R69f10205431643e4" /><Relationship Type="http://schemas.openxmlformats.org/officeDocument/2006/relationships/slide" Target="/ppt/slides/slide1.xml" Id="R6a83a4aa88e442fb" /><Relationship Type="http://schemas.openxmlformats.org/officeDocument/2006/relationships/slide" Target="/ppt/slides/slide2.xml" Id="Ra77984e4b9d44480" /><Relationship Type="http://schemas.openxmlformats.org/officeDocument/2006/relationships/slide" Target="/ppt/slides/slide3.xml" Id="Rf8bfbd0a1dba44b5" /><Relationship Type="http://schemas.openxmlformats.org/officeDocument/2006/relationships/slide" Target="/ppt/slides/slide4.xml" Id="Rc462fa4f26f44b59" /><Relationship Type="http://schemas.openxmlformats.org/officeDocument/2006/relationships/slide" Target="/ppt/slides/slide5.xml" Id="R534a33db77154bef" /><Relationship Type="http://schemas.openxmlformats.org/officeDocument/2006/relationships/slide" Target="/ppt/slides/slide6.xml" Id="R2f4e5d6818d34882" /><Relationship Type="http://schemas.openxmlformats.org/officeDocument/2006/relationships/slide" Target="/ppt/slides/slide7.xml" Id="R9c79dd06e67c4291" /><Relationship Type="http://schemas.openxmlformats.org/officeDocument/2006/relationships/slide" Target="/ppt/slides/slide8.xml" Id="R536fa7d612e243bd" /><Relationship Type="http://schemas.openxmlformats.org/officeDocument/2006/relationships/slide" Target="/ppt/slides/slide9.xml" Id="R488e3f280b3d48b6" /><Relationship Type="http://schemas.openxmlformats.org/officeDocument/2006/relationships/slide" Target="/ppt/slides/slide10.xml" Id="R14ebea35aa6f4178" /><Relationship Type="http://schemas.openxmlformats.org/officeDocument/2006/relationships/slide" Target="/ppt/slides/slide11.xml" Id="R593a73505cb64bf7" /><Relationship Type="http://schemas.openxmlformats.org/officeDocument/2006/relationships/slide" Target="/ppt/slides/slide12.xml" Id="R6217c1fa72d549ae" /><Relationship Type="http://schemas.openxmlformats.org/officeDocument/2006/relationships/slide" Target="/ppt/slides/slide13.xml" Id="R5f5a7cdefb2d4e0c" /><Relationship Type="http://schemas.openxmlformats.org/officeDocument/2006/relationships/slide" Target="/ppt/slides/slide14.xml" Id="R07521716eb764310" /><Relationship Type="http://schemas.openxmlformats.org/officeDocument/2006/relationships/slide" Target="/ppt/slides/slide15.xml" Id="Rae0d75ee592e42e2" /><Relationship Type="http://schemas.openxmlformats.org/officeDocument/2006/relationships/slide" Target="/ppt/slides/slide16.xml" Id="Rf042548760fe4a9b" /><Relationship Type="http://schemas.openxmlformats.org/officeDocument/2006/relationships/slide" Target="/ppt/slides/slide17.xml" Id="R8db68580991a4dfd" /><Relationship Type="http://schemas.openxmlformats.org/officeDocument/2006/relationships/slide" Target="/ppt/slides/slide18.xml" Id="R177a881dd2454140" /><Relationship Type="http://schemas.openxmlformats.org/officeDocument/2006/relationships/slide" Target="/ppt/slides/slide19.xml" Id="Raa9af29004b34e8c" /><Relationship Type="http://schemas.openxmlformats.org/officeDocument/2006/relationships/slide" Target="/ppt/slides/slide20.xml" Id="R05e163d74f3d4b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9153e88f8645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"/>
        <a:ea typeface="Microsoft YaHei"/>
        <a:cs typeface="Calibri Light"/>
      </a:majorFont>
      <a:minorFont>
        <a:latin typeface="Microsoft YaHei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8c44b04d6b4691" /><Relationship Type="http://schemas.openxmlformats.org/officeDocument/2006/relationships/notesMaster" Target="/ppt/notesMasters/notesMaster1.xml" Id="Rf7063d26d31048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82bc91005f408e" /><Relationship Type="http://schemas.openxmlformats.org/officeDocument/2006/relationships/notesMaster" Target="/ppt/notesMasters/notesMaster1.xml" Id="Ra19e7297af7b40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4bc1a664974668" /><Relationship Type="http://schemas.openxmlformats.org/officeDocument/2006/relationships/notesMaster" Target="/ppt/notesMasters/notesMaster1.xml" Id="Ra11b53e883ae4d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f0b58434ae45cb" /><Relationship Type="http://schemas.openxmlformats.org/officeDocument/2006/relationships/notesMaster" Target="/ppt/notesMasters/notesMaster1.xml" Id="R47ddc24f4ac74c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67850a2291487a" /><Relationship Type="http://schemas.openxmlformats.org/officeDocument/2006/relationships/notesMaster" Target="/ppt/notesMasters/notesMaster1.xml" Id="R64bc12d192e342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d32674464e4c20" /><Relationship Type="http://schemas.openxmlformats.org/officeDocument/2006/relationships/notesMaster" Target="/ppt/notesMasters/notesMaster1.xml" Id="Rc85ccd70467142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5e0c5475aa4398" /><Relationship Type="http://schemas.openxmlformats.org/officeDocument/2006/relationships/notesMaster" Target="/ppt/notesMasters/notesMaster1.xml" Id="R3637ad067d0f46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5dc413d2c34518" /><Relationship Type="http://schemas.openxmlformats.org/officeDocument/2006/relationships/notesMaster" Target="/ppt/notesMasters/notesMaster1.xml" Id="R03f2c6d3ad8648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4dfd1e90b9451e" /><Relationship Type="http://schemas.openxmlformats.org/officeDocument/2006/relationships/notesMaster" Target="/ppt/notesMasters/notesMaster1.xml" Id="R7cdaa11407a440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080c4c015540ad" /><Relationship Type="http://schemas.openxmlformats.org/officeDocument/2006/relationships/notesMaster" Target="/ppt/notesMasters/notesMaster1.xml" Id="Rc9a2ec24f7114f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93c5d6570343bb" /><Relationship Type="http://schemas.openxmlformats.org/officeDocument/2006/relationships/notesMaster" Target="/ppt/notesMasters/notesMaster1.xml" Id="R932636e0307d41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cfe8da2219440e" /><Relationship Type="http://schemas.openxmlformats.org/officeDocument/2006/relationships/notesMaster" Target="/ppt/notesMasters/notesMaster1.xml" Id="R06f945cd08be40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f8512ade5f457b" /><Relationship Type="http://schemas.openxmlformats.org/officeDocument/2006/relationships/notesMaster" Target="/ppt/notesMasters/notesMaster1.xml" Id="R40b4a9f0e8ba48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8c73059808464d" /><Relationship Type="http://schemas.openxmlformats.org/officeDocument/2006/relationships/notesMaster" Target="/ppt/notesMasters/notesMaster1.xml" Id="R79bc1724a67a4f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b499e4afc94b24" /><Relationship Type="http://schemas.openxmlformats.org/officeDocument/2006/relationships/notesMaster" Target="/ppt/notesMasters/notesMaster1.xml" Id="R258cf59f7fda45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ebd3d1c7334c77" /><Relationship Type="http://schemas.openxmlformats.org/officeDocument/2006/relationships/notesMaster" Target="/ppt/notesMasters/notesMaster1.xml" Id="Rb3359489f3f148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9264404b8b4590" /><Relationship Type="http://schemas.openxmlformats.org/officeDocument/2006/relationships/notesMaster" Target="/ppt/notesMasters/notesMaster1.xml" Id="R9f13bfc1d55942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70878c15a14597" /><Relationship Type="http://schemas.openxmlformats.org/officeDocument/2006/relationships/notesMaster" Target="/ppt/notesMasters/notesMaster1.xml" Id="Rb5f7b69c480c4a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75af1bb77245e2" /><Relationship Type="http://schemas.openxmlformats.org/officeDocument/2006/relationships/notesMaster" Target="/ppt/notesMasters/notesMaster1.xml" Id="R527c993eb87e418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a1a2d1366e542d7" /><Relationship Type="http://schemas.openxmlformats.org/officeDocument/2006/relationships/notesMaster" Target="/ppt/notesMasters/notesMaster1.xml" Id="R346dfbbf90564e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ac1b35f3d4c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f5f8249c19482c" /><Relationship Type="http://schemas.openxmlformats.org/officeDocument/2006/relationships/slideLayout" Target="/ppt/slideLayouts/slideLayout1.xml" Id="R5ff11638318540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f11638318540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2d2ee0b3f4059" /><Relationship Type="http://schemas.openxmlformats.org/officeDocument/2006/relationships/notesSlide" Target="/ppt/notesSlides/notesSlide1.xml" Id="R3d45f6c602354e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aef47d089411b" /><Relationship Type="http://schemas.openxmlformats.org/officeDocument/2006/relationships/notesSlide" Target="/ppt/notesSlides/notesSlide2.xml" Id="R836154f6eff745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81a6879a34750" /><Relationship Type="http://schemas.openxmlformats.org/officeDocument/2006/relationships/notesSlide" Target="/ppt/notesSlides/notesSlide3.xml" Id="R89da74b460564f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8f59d544f4d41" /><Relationship Type="http://schemas.openxmlformats.org/officeDocument/2006/relationships/notesSlide" Target="/ppt/notesSlides/notesSlide4.xml" Id="R9832b8a23f2a4c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5b9cc49624355" /><Relationship Type="http://schemas.openxmlformats.org/officeDocument/2006/relationships/notesSlide" Target="/ppt/notesSlides/notesSlide5.xml" Id="R4419843efa1445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f5158d0014715" /><Relationship Type="http://schemas.openxmlformats.org/officeDocument/2006/relationships/notesSlide" Target="/ppt/notesSlides/notesSlide6.xml" Id="R27ccdc9031554b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620de2a984dab" /><Relationship Type="http://schemas.openxmlformats.org/officeDocument/2006/relationships/notesSlide" Target="/ppt/notesSlides/notesSlide7.xml" Id="Rd49161c9b5c64a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0232b9cbe448d" /><Relationship Type="http://schemas.openxmlformats.org/officeDocument/2006/relationships/notesSlide" Target="/ppt/notesSlides/notesSlide8.xml" Id="Rb34a6dc59bad45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5ec58986e4f34" /><Relationship Type="http://schemas.openxmlformats.org/officeDocument/2006/relationships/notesSlide" Target="/ppt/notesSlides/notesSlide9.xml" Id="R800e8dfc169043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1361b722c4be0" /><Relationship Type="http://schemas.openxmlformats.org/officeDocument/2006/relationships/notesSlide" Target="/ppt/notesSlides/notesSlide10.xml" Id="R023385ba4a8d44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8db20f0f14ae7" /><Relationship Type="http://schemas.openxmlformats.org/officeDocument/2006/relationships/notesSlide" Target="/ppt/notesSlides/notesSlide11.xml" Id="Rf6c1639569504e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daacb98f04b87" /><Relationship Type="http://schemas.openxmlformats.org/officeDocument/2006/relationships/notesSlide" Target="/ppt/notesSlides/notesSlide12.xml" Id="Rd6fe133e3c344d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9ea9dd6f94c30" /><Relationship Type="http://schemas.openxmlformats.org/officeDocument/2006/relationships/notesSlide" Target="/ppt/notesSlides/notesSlide13.xml" Id="Rf34d62c346d74a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47874cce44e04" /><Relationship Type="http://schemas.openxmlformats.org/officeDocument/2006/relationships/notesSlide" Target="/ppt/notesSlides/notesSlide14.xml" Id="Rd07e333720ef40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ef95c56c04064" /><Relationship Type="http://schemas.openxmlformats.org/officeDocument/2006/relationships/notesSlide" Target="/ppt/notesSlides/notesSlide15.xml" Id="Rab29688151da4c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055fbb531447d" /><Relationship Type="http://schemas.openxmlformats.org/officeDocument/2006/relationships/notesSlide" Target="/ppt/notesSlides/notesSlide16.xml" Id="R35de670607c848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b53748c9a468e" /><Relationship Type="http://schemas.openxmlformats.org/officeDocument/2006/relationships/notesSlide" Target="/ppt/notesSlides/notesSlide17.xml" Id="Rcb2cfbb15b0a40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ab24e60464161" /><Relationship Type="http://schemas.openxmlformats.org/officeDocument/2006/relationships/notesSlide" Target="/ppt/notesSlides/notesSlide18.xml" Id="R17fb9f651de545c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abf4d3e144de3" /><Relationship Type="http://schemas.openxmlformats.org/officeDocument/2006/relationships/notesSlide" Target="/ppt/notesSlides/notesSlide19.xml" Id="R01d88055b1f84e3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47dfec5c944e6" /><Relationship Type="http://schemas.openxmlformats.org/officeDocument/2006/relationships/notesSlide" Target="/ppt/notesSlides/notesSlide20.xml" Id="Re6424f25ecd24335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cover-band">
            <a:extLst>
              <a:ext uri="{FF2B5EF4-FFF2-40B4-BE49-F238E27FC236}">
                <ns2:creationId id="{75100363-88F7-49C2-B3E2-E2BECC118086}"/>
              </a:ext>
            </a:extLst>
          </p:cNvPr>
          <p:cNvSpPr>
            <a:spLocks noGrp="1"/>
          </p:cNvSpPr>
          <p:nvPr/>
        </p:nvSpPr>
        <p:spPr>
          <a:xfrm>
            <a:off x="0" y="628650"/>
            <a:ext cx="12192000" cy="142875"/>
          </a:xfrm>
          <a:prstGeom prst="rect">
            <a:avLst/>
          </a:prstGeom>
          <a:solidFill>
            <a:srgbClr val="003399"/>
          </a:solidFill>
          <a:ln w="0"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ns2:creationId id="{8A6CCBCF-89DA-4B1E-A5D6-8981E1F3B3D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524000" y="1714500"/>
            <a:ext cx="914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&lt;结论式主题&gt;｜&lt;研究对象&gt;与&lt;阶段成果&gt;</a:t>
            </a:r>
          </a:p>
        </p:txBody>
      </p:sp>
      <p:sp>
        <p:nvSpPr>
          <p:cNvPr id="3" name="subtitle">
            <a:extLst>
              <a:ext uri="{FF2B5EF4-FFF2-40B4-BE49-F238E27FC236}">
                <ns2:creationId id="{25C07DF9-1C5A-40B6-BC4B-C5483D5F7E0C}"/>
              </a:ext>
            </a:extLst>
          </p:cNvPr>
          <p:cNvSpPr>
            <a:spLocks noGrp="1"/>
          </p:cNvSpPr>
          <p:nvPr/>
        </p:nvSpPr>
        <p:spPr>
          <a:xfrm>
            <a:off x="2286000" y="2857500"/>
            <a:ext cx="762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汇报人：〈姓名〉｜单位：〈单位〉｜日期：〈YYYY-MM-DD〉</a:t>
            </a:r>
          </a:p>
        </p:txBody>
      </p:sp>
      <p:sp>
        <p:nvSpPr>
          <p:cNvPr id="4" name="SR58-SUMMARY">
            <a:extLst>
              <a:ext uri="{FF2B5EF4-FFF2-40B4-BE49-F238E27FC236}">
                <ns2:creationId id="{9AF8D59B-9CEB-48DA-9FBA-9D86956E15BD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本页先给出汇报对象、阶段结论和内容边界。</a:t>
            </a:r>
          </a:p>
        </p:txBody>
      </p:sp>
      <p:sp>
        <p:nvSpPr>
          <p:cNvPr id="5" name="rules">
            <a:extLst>
              <a:ext uri="{FF2B5EF4-FFF2-40B4-BE49-F238E27FC236}">
                <ns2:creationId id="{489042CE-4B41-4C36-AEE9-9B68F0E0B02D}"/>
              </a:ext>
            </a:extLst>
          </p:cNvPr>
          <p:cNvSpPr>
            <a:spLocks noGrp="1"/>
          </p:cNvSpPr>
          <p:nvPr/>
        </p:nvSpPr>
        <p:spPr>
          <a:xfrm>
            <a:off x="1524000" y="4000500"/>
            <a:ext cx="9144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布局要求：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标题居中，信息不堆砌；替换全部占位，不放私有图片。</a:t>
            </a:r>
          </a:p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讲述要求：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观众能用一句话说出本页完成了什么。</a:t>
            </a:r>
          </a:p>
        </p:txBody>
      </p:sp>
    </p:spTree>
    <p:extLst>
      <p:ext uri="{BB962C8B-B14F-4D97-AF65-F5344CB8AC3E}">
        <ns3:creationId val="788818574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7858E4D-8646-4276-9382-39FB2C90E06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总则｜信息有条理且不堆砌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88138603-62CE-42E6-A4E8-E9E5D2E74252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页面先服务论证顺序，再服务美观，不能靠堆砌内容显示工作量。</a:t>
            </a:r>
          </a:p>
        </p:txBody>
      </p:sp>
      <p:sp>
        <p:nvSpPr>
          <p:cNvPr id="3" name="v8-rule">
            <a:extLst>
              <a:ext uri="{FF2B5EF4-FFF2-40B4-BE49-F238E27FC236}">
                <ns2:creationId id="{FB8AF8F8-A857-4AC9-9724-CA99C8A90DD1}"/>
              </a:ext>
            </a:extLst>
          </p:cNvPr>
          <p:cNvSpPr>
            <a:spLocks noGrp="1"/>
          </p:cNvSpPr>
          <p:nvPr/>
        </p:nvSpPr>
        <p:spPr>
          <a:xfrm>
            <a:off x="2381250" y="1714500"/>
            <a:ext cx="74295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1430">
            <a:solidFill>
              <a:srgbClr val="00339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1. 版面：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一页只放一个主要认知对象，信息分组呈现。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2. 顺序：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先结论、再证据、后边界，读者能自然跟随。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3. 密度：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放不下就拆页或删减，不缩小字号。</a:t>
            </a:r>
          </a:p>
        </p:txBody>
      </p:sp>
    </p:spTree>
    <p:extLst>
      <p:ext uri="{BB962C8B-B14F-4D97-AF65-F5344CB8AC3E}">
        <ns3:creationId val="663067269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E9FCE78A-C29B-4765-B9E5-AB066D9D4798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汇报原则｜一页一句话讲完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DC3E5823-95A3-4869-B4E2-785CA29BBBC4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每页应能被一句话讲完，review工作需先给出文献依据。</a:t>
            </a:r>
          </a:p>
        </p:txBody>
      </p:sp>
      <p:sp>
        <p:nvSpPr>
          <p:cNvPr id="3" name="one-sentence">
            <a:extLst>
              <a:ext uri="{FF2B5EF4-FFF2-40B4-BE49-F238E27FC236}">
                <ns2:creationId id="{9358AA0F-090A-43F9-B06D-26D7A5D31D70}"/>
              </a:ext>
            </a:extLst>
          </p:cNvPr>
          <p:cNvSpPr>
            <a:spLocks noGrp="1"/>
          </p:cNvSpPr>
          <p:nvPr/>
        </p:nvSpPr>
        <p:spPr>
          <a:xfrm>
            <a:off x="2381250" y="1714500"/>
            <a:ext cx="74295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1430">
            <a:solidFill>
              <a:srgbClr val="00339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一页一句话：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标题和正文共同支持一个可讲清的判断。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文献规则：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review他人工作时参考文献先行，或在开头声明所用文献。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删除规则：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修饰性解释进入讲稿，不占页面。</a:t>
            </a:r>
          </a:p>
        </p:txBody>
      </p:sp>
    </p:spTree>
    <p:extLst>
      <p:ext uri="{BB962C8B-B14F-4D97-AF65-F5344CB8AC3E}">
        <ns3:creationId val="1685193689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itle">
            <a:extLst>
              <a:ext uri="{FF2B5EF4-FFF2-40B4-BE49-F238E27FC236}">
                <ns2:creationId id="{4476EE2F-B246-4C46-A721-F94C3AE954FB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上周回顾｜对照建议核验完成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EEE33AF6-F819-4215-82C0-0F25033BCFE1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上周规划和导师建议逐项对照证据，未完成项不写成结果。</a:t>
            </a:r>
          </a:p>
        </p:txBody>
      </p:sp>
      <p:sp>
        <p:nvSpPr>
          <p:cNvPr id="3" name="last-plan">
            <a:extLst>
              <a:ext uri="{FF2B5EF4-FFF2-40B4-BE49-F238E27FC236}">
                <ns2:creationId id="{DFFD579D-E099-42B5-9267-362CCE3DDB43}"/>
              </a:ext>
            </a:extLst>
          </p:cNvPr>
          <p:cNvSpPr>
            <a:spLocks noGrp="1"/>
          </p:cNvSpPr>
          <p:nvPr/>
        </p:nvSpPr>
        <p:spPr>
          <a:xfrm>
            <a:off x="304800" y="1333500"/>
            <a:ext cx="11582400" cy="2095500"/>
          </a:xfrm>
          <a:prstGeom prst="roundRect">
            <a:avLst>
              <a:gd name="adj" fmla="val 3636"/>
            </a:avLst>
          </a:prstGeom>
          <a:solidFill>
            <a:srgbClr val="D9E2F3"/>
          </a:solidFill>
          <a:ln w="11430">
            <a:solidFill>
              <a:srgbClr val="00339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上周规划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1. 〈任务一〉：〈完成状态与证据〉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2. 〈任务二〉：〈完成状态与证据〉</a:t>
            </a:r>
          </a:p>
        </p:txBody>
      </p:sp>
      <p:sp>
        <p:nvSpPr>
          <p:cNvPr id="4" name="advisor">
            <a:extLst>
              <a:ext uri="{FF2B5EF4-FFF2-40B4-BE49-F238E27FC236}">
                <ns2:creationId id="{BBE7B73F-6484-4692-9847-026907008BA3}"/>
              </a:ext>
            </a:extLst>
          </p:cNvPr>
          <p:cNvSpPr>
            <a:spLocks noGrp="1"/>
          </p:cNvSpPr>
          <p:nvPr/>
        </p:nvSpPr>
        <p:spPr>
          <a:xfrm>
            <a:off x="304800" y="3714750"/>
            <a:ext cx="115824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导师建议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1. 〈建议一〉：〈落实方式与剩余差距〉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2. 〈建议二〉：〈落实方式与剩余差距〉</a:t>
            </a:r>
          </a:p>
        </p:txBody>
      </p:sp>
    </p:spTree>
    <p:extLst>
      <p:ext uri="{BB962C8B-B14F-4D97-AF65-F5344CB8AC3E}">
        <ns3:creationId val="2378375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3BCBE7D6-F2B8-47E4-98B4-4DF77B3EBA9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汇报大纲｜按章节推进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3F0BA9E1-6042-43DA-AE8F-8736F72C0A41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大纲按研究逻辑分节，不用文档页码或段落顺序代签署名。</a:t>
            </a:r>
          </a:p>
        </p:txBody>
      </p:sp>
      <p:sp>
        <p:nvSpPr>
          <p:cNvPr id="3" name="agenda">
            <a:extLst>
              <a:ext uri="{FF2B5EF4-FFF2-40B4-BE49-F238E27FC236}">
                <ns2:creationId id="{0FDE4801-AF48-4ED2-B8DD-B8E131AEC888}"/>
              </a:ext>
            </a:extLst>
          </p:cNvPr>
          <p:cNvSpPr>
            <a:spLocks noGrp="1"/>
          </p:cNvSpPr>
          <p:nvPr/>
        </p:nvSpPr>
        <p:spPr>
          <a:xfrm>
            <a:off x="3143250" y="1238250"/>
            <a:ext cx="5905500" cy="447675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1430">
            <a:solidFill>
              <a:srgbClr val="00339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1. 主题一：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&lt;成果与证据&gt;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2. 主题二：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&lt;方法与模型设置&gt;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3. 主题三：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&lt;结果与资源统计&gt;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4. 主题四：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&lt;问题、反思与下一步&gt;</a:t>
            </a:r>
          </a:p>
        </p:txBody>
      </p:sp>
    </p:spTree>
    <p:extLst>
      <p:ext uri="{BB962C8B-B14F-4D97-AF65-F5344CB8AC3E}">
        <ns3:creationId val="156371673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7270D760-805A-4B16-A216-C13C8C0603E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1. &lt;主题&gt;｜完成&lt;对象&gt;并明确剩余问题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A4557813-C0C6-4556-AB47-654C9AC4D6CC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本页用一句话说明已完成内容、预计时间和仍未解决的问题。</a:t>
            </a:r>
          </a:p>
        </p:txBody>
      </p:sp>
      <p:sp>
        <p:nvSpPr>
          <p:cNvPr id="3" name="result">
            <a:extLst>
              <a:ext uri="{FF2B5EF4-FFF2-40B4-BE49-F238E27FC236}">
                <ns2:creationId id="{6F1C9065-9C32-42EE-8D79-E431A96F54B4}"/>
              </a:ext>
            </a:extLst>
          </p:cNvPr>
          <p:cNvSpPr>
            <a:spLocks noGrp="1"/>
          </p:cNvSpPr>
          <p:nvPr/>
        </p:nvSpPr>
        <p:spPr>
          <a:xfrm>
            <a:off x="1905000" y="1428750"/>
            <a:ext cx="8382000" cy="2857500"/>
          </a:xfrm>
          <a:prstGeom prst="roundRect">
            <a:avLst>
              <a:gd name="adj" fmla="val 2667"/>
            </a:avLst>
          </a:prstGeom>
          <a:solidFill>
            <a:srgbClr val="D9E2F3"/>
          </a:solidFill>
          <a:ln w="11430">
            <a:solidFill>
              <a:srgbClr val="00339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u="sng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通过〈核心技术〉，完成〈可检查对象〉。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预计〈时间〉解决〈剩余问题一〉。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仍需探索〈问题二〉，当前边界为〈条件〉。</a:t>
            </a:r>
          </a:p>
        </p:txBody>
      </p:sp>
    </p:spTree>
    <p:extLst>
      <p:ext uri="{BB962C8B-B14F-4D97-AF65-F5344CB8AC3E}">
        <ns3:creationId val="114450207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itle">
            <a:extLst>
              <a:ext uri="{FF2B5EF4-FFF2-40B4-BE49-F238E27FC236}">
                <ns2:creationId id="{EECA4527-A27C-40EC-B35C-CA40E112AD1D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1.1 &lt;方法&gt;｜用&lt;机制&gt;解释&lt;结果&gt;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75E6DC9E-8855-46C0-8C79-9E8B99CDD53C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方法页以文字骨架为主，图片只辅助说明机制和对象。</a:t>
            </a:r>
          </a:p>
        </p:txBody>
      </p:sp>
      <p:sp>
        <p:nvSpPr>
          <p:cNvPr id="3" name="method-text">
            <a:extLst>
              <a:ext uri="{FF2B5EF4-FFF2-40B4-BE49-F238E27FC236}">
                <ns2:creationId id="{24055D88-B330-4141-B845-92623C02AA35}"/>
              </a:ext>
            </a:extLst>
          </p:cNvPr>
          <p:cNvSpPr>
            <a:spLocks noGrp="1"/>
          </p:cNvSpPr>
          <p:nvPr/>
        </p:nvSpPr>
        <p:spPr>
          <a:xfrm>
            <a:off x="304800" y="1333500"/>
            <a:ext cx="4572000" cy="447675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1430">
            <a:solidFill>
              <a:srgbClr val="00339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1. 对象：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&lt;研究对象与输入&gt;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2. 机制：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&lt;关键机理或算法步骤&gt;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3. 设定：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&lt;条件、单位和边界&gt;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4. 判断：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&lt;成功标准与误差来源&gt;</a:t>
            </a:r>
          </a:p>
        </p:txBody>
      </p:sp>
      <p:sp>
        <p:nvSpPr>
          <p:cNvPr id="4" name="method-figure">
            <a:extLst>
              <a:ext uri="{FF2B5EF4-FFF2-40B4-BE49-F238E27FC236}">
                <ns2:creationId id="{1DF13F04-59E1-42D7-9A9C-13A4182ADDB1}"/>
              </a:ext>
            </a:extLst>
          </p:cNvPr>
          <p:cNvSpPr>
            <a:spLocks noGrp="1"/>
          </p:cNvSpPr>
          <p:nvPr/>
        </p:nvSpPr>
        <p:spPr>
          <a:xfrm>
            <a:off x="5334000" y="1333500"/>
            <a:ext cx="6553200" cy="447675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方法示意图占位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替换为可检查图片；保留坐标、单位、图例和标注</a:t>
            </a:r>
          </a:p>
        </p:txBody>
      </p:sp>
    </p:spTree>
    <p:extLst>
      <p:ext uri="{BB962C8B-B14F-4D97-AF65-F5344CB8AC3E}">
        <ns3:creationId val="1304728195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title">
            <a:extLst>
              <a:ext uri="{FF2B5EF4-FFF2-40B4-BE49-F238E27FC236}">
                <ns2:creationId id="{56305B2F-5540-44FD-9924-2089977C07B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下次汇报展望｜先完成两件事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74E8920F-1F8F-4EF6-A596-B8D596880EB4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下次工作先补决定性证据，再扩展测试，不把计划写成成果。</a:t>
            </a:r>
          </a:p>
        </p:txBody>
      </p:sp>
      <p:sp>
        <p:nvSpPr>
          <p:cNvPr id="3" name="next-a">
            <a:extLst>
              <a:ext uri="{FF2B5EF4-FFF2-40B4-BE49-F238E27FC236}">
                <ns2:creationId id="{56029A44-A789-47B7-85C6-91F35FB3B79E}"/>
              </a:ext>
            </a:extLst>
          </p:cNvPr>
          <p:cNvSpPr>
            <a:spLocks noGrp="1"/>
          </p:cNvSpPr>
          <p:nvPr/>
        </p:nvSpPr>
        <p:spPr>
          <a:xfrm>
            <a:off x="476250" y="1524000"/>
            <a:ext cx="5143500" cy="2381250"/>
          </a:xfrm>
          <a:prstGeom prst="roundRect">
            <a:avLst>
              <a:gd name="adj" fmla="val 3200"/>
            </a:avLst>
          </a:prstGeom>
          <a:solidFill>
            <a:srgbClr val="D9E2F3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P0 补证据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动作：〈最小验证〉
完成标准：〈指标/记录〉
时间：〈日期〉</a:t>
            </a:r>
          </a:p>
        </p:txBody>
      </p:sp>
      <p:sp>
        <p:nvSpPr>
          <p:cNvPr id="4" name="next-b">
            <a:extLst>
              <a:ext uri="{FF2B5EF4-FFF2-40B4-BE49-F238E27FC236}">
                <ns2:creationId id="{444AF459-F61D-45C2-AF1E-41F6F49954F7}"/>
              </a:ext>
            </a:extLst>
          </p:cNvPr>
          <p:cNvSpPr>
            <a:spLocks noGrp="1"/>
          </p:cNvSpPr>
          <p:nvPr/>
        </p:nvSpPr>
        <p:spPr>
          <a:xfrm>
            <a:off x="6572250" y="1524000"/>
            <a:ext cx="51435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P1 扩测试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动作：〈新条件〉
完成标准：〈稳健性证据〉
时间：〈日期〉</a:t>
            </a:r>
          </a:p>
        </p:txBody>
      </p:sp>
      <p:sp>
        <p:nvSpPr>
          <p:cNvPr id="5" name="next-decision">
            <a:extLst>
              <a:ext uri="{FF2B5EF4-FFF2-40B4-BE49-F238E27FC236}">
                <ns2:creationId id="{3849C3A3-5DF7-4693-B4B0-88BF38CE1B9B}"/>
              </a:ext>
            </a:extLst>
          </p:cNvPr>
          <p:cNvSpPr>
            <a:spLocks noGrp="1"/>
          </p:cNvSpPr>
          <p:nvPr/>
        </p:nvSpPr>
        <p:spPr>
          <a:xfrm>
            <a:off x="476250" y="4381500"/>
            <a:ext cx="11239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需要导师判断：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〈P0完成后是否进入P1〉</a:t>
            </a:r>
          </a:p>
        </p:txBody>
      </p:sp>
    </p:spTree>
    <p:extLst>
      <p:ext uri="{BB962C8B-B14F-4D97-AF65-F5344CB8AC3E}">
        <ns3:creationId val="667730393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B5A1A41B-5B5D-4E4C-A770-24379CCB44B6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计算模板说明｜模型设置必须可复查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B35DC8F5-A586-4E01-9E44-F15BF40967E9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凡涉及模型均补全设置，无论自研代码还是商业软件。</a:t>
            </a:r>
          </a:p>
        </p:txBody>
      </p:sp>
      <p:sp>
        <p:nvSpPr>
          <p:cNvPr id="3" name="comp-intro">
            <a:extLst>
              <a:ext uri="{FF2B5EF4-FFF2-40B4-BE49-F238E27FC236}">
                <ns2:creationId id="{D091B478-8297-4738-BD09-0D6D6B2E2067}"/>
              </a:ext>
            </a:extLst>
          </p:cNvPr>
          <p:cNvSpPr>
            <a:spLocks noGrp="1"/>
          </p:cNvSpPr>
          <p:nvPr/>
        </p:nvSpPr>
        <p:spPr>
          <a:xfrm>
            <a:off x="2095500" y="1905000"/>
            <a:ext cx="80010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00339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必须补全：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激励、几何、介质、边界条件和资源统计。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软件说明：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商业软件也写清底层参数、版本和取舍。</a:t>
            </a:r>
          </a:p>
        </p:txBody>
      </p:sp>
    </p:spTree>
    <p:extLst>
      <p:ext uri="{BB962C8B-B14F-4D97-AF65-F5344CB8AC3E}">
        <ns3:creationId val="1833337613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title">
            <a:extLst>
              <a:ext uri="{FF2B5EF4-FFF2-40B4-BE49-F238E27FC236}">
                <ns2:creationId id="{669C4F66-5F26-4354-99F8-EDA3BB6F210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&lt;模型&gt;｜几何与网格四视图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396E5468-F3A8-4598-8B89-64F710BAD560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几何页给出四视图、尺度、网格和关键细节，坐标刻度必须齐全。</a:t>
            </a:r>
          </a:p>
        </p:txBody>
      </p:sp>
      <p:sp>
        <p:nvSpPr>
          <p:cNvPr id="3" name="geometry-note">
            <a:extLst>
              <a:ext uri="{FF2B5EF4-FFF2-40B4-BE49-F238E27FC236}">
                <ns2:creationId id="{5F6482E1-E4FB-482C-939B-8C8DCFA5E817}"/>
              </a:ext>
            </a:extLst>
          </p:cNvPr>
          <p:cNvSpPr>
            <a:spLocks noGrp="1"/>
          </p:cNvSpPr>
          <p:nvPr/>
        </p:nvSpPr>
        <p:spPr>
          <a:xfrm>
            <a:off x="304800" y="129540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模型：&lt;几何类型&gt;；物理域：&lt;尺寸&gt;；目标物：&lt;尺寸&gt;；最小细节：&lt;尺寸/单位&gt;。</a:t>
            </a:r>
          </a:p>
        </p:txBody>
      </p:sp>
      <p:sp>
        <p:nvSpPr>
          <p:cNvPr id="4" name="four-view">
            <a:extLst>
              <a:ext uri="{FF2B5EF4-FFF2-40B4-BE49-F238E27FC236}">
                <ns2:creationId id="{B736EB97-03D7-4E5C-87AC-B7F628D6BA57}"/>
              </a:ext>
            </a:extLst>
          </p:cNvPr>
          <p:cNvSpPr>
            <a:spLocks noGrp="1"/>
          </p:cNvSpPr>
          <p:nvPr/>
        </p:nvSpPr>
        <p:spPr>
          <a:xfrm>
            <a:off x="247650" y="1809750"/>
            <a:ext cx="56197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1430">
            <a:solidFill>
              <a:srgbClr val="00339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等轴视图 + 三视图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1. 等轴视图  2. 主视图
3. 侧视图  4. 俯视图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每图保留坐标轴、刻度和比例。</a:t>
            </a:r>
          </a:p>
        </p:txBody>
      </p:sp>
      <p:sp>
        <p:nvSpPr>
          <p:cNvPr id="5" name="mesh-detail">
            <a:extLst>
              <a:ext uri="{FF2B5EF4-FFF2-40B4-BE49-F238E27FC236}">
                <ns2:creationId id="{EBF6758F-3F98-4BB4-9142-3A19707361D2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6197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网格剖分与关键细节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替换为可检查图片；保留坐标、单位、图例和标注</a:t>
            </a:r>
          </a:p>
        </p:txBody>
      </p:sp>
    </p:spTree>
    <p:extLst>
      <p:ext uri="{BB962C8B-B14F-4D97-AF65-F5344CB8AC3E}">
        <ns3:creationId val="1437702461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title">
            <a:extLst>
              <a:ext uri="{FF2B5EF4-FFF2-40B4-BE49-F238E27FC236}">
                <ns2:creationId id="{28FB8FB8-A2C8-499A-BFD0-51DAE714ACF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模型设置｜激励几何介质边条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63921DE6-92A4-4FB6-B365-E4B19088A456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四要素分开成表，字段、单位、版本和边界条件可直接复查。</a:t>
            </a:r>
          </a:p>
        </p:txBody>
      </p:sp>
      <p:sp>
        <p:nvSpPr>
          <p:cNvPr id="3" name="label-excitation">
            <a:extLst>
              <a:ext uri="{FF2B5EF4-FFF2-40B4-BE49-F238E27FC236}">
                <ns2:creationId id="{C2815DF9-6F64-49E2-A28F-BFF170D879C0}"/>
              </a:ext>
            </a:extLst>
          </p:cNvPr>
          <p:cNvSpPr>
            <a:spLocks noGrp="1"/>
          </p:cNvSpPr>
          <p:nvPr/>
        </p:nvSpPr>
        <p:spPr>
          <a:xfrm>
            <a:off x="304800" y="12954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激励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="304800" y="1657350"/>
          <a:ext cx="11582400" cy="800100"/>
        </p:xfrm>
        <a:graphic>
          <a:graphicData uri="http://schemas.openxmlformats.org/drawingml/2006/table">
            <a:tbl>
              <a:tblPr firstRow="1" bandRow="0"/>
              <a:tblGrid>
                <a:gridCol w="1930400"/>
                <a:gridCol w="1930400"/>
                <a:gridCol w="1930400"/>
                <a:gridCol w="1930400"/>
                <a:gridCol w="1930400"/>
                <a:gridCol w="1930400"/>
              </a:tblGrid>
              <a:tr h="40005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源种类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加源方式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位置/方向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极化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中心频率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&lt;类型&gt;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&lt;方式&gt;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&lt;方向&gt;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&lt;极化&gt;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&lt;数值/单位&gt;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&lt;范围/单位&gt;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label-geometry">
            <a:extLst>
              <a:ext uri="{FF2B5EF4-FFF2-40B4-BE49-F238E27FC236}">
                <ns2:creationId id="{990D5D2A-4890-4121-808A-8AB770210198}"/>
              </a:ext>
            </a:extLst>
          </p:cNvPr>
          <p:cNvSpPr>
            <a:spLocks noGrp="1"/>
          </p:cNvSpPr>
          <p:nvPr/>
        </p:nvSpPr>
        <p:spPr>
          <a:xfrm>
            <a:off x="304800" y="26098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几何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="304800" y="2971800"/>
          <a:ext cx="11582400" cy="952500"/>
        </p:xfrm>
        <a:graphic>
          <a:graphicData uri="http://schemas.openxmlformats.org/drawingml/2006/table">
            <a:tbl>
              <a:tblPr firstRow="1" bandRow="0"/>
              <a:tblGrid>
                <a:gridCol w="1930400"/>
                <a:gridCol w="1930400"/>
                <a:gridCol w="1930400"/>
                <a:gridCol w="1930400"/>
                <a:gridCol w="1930400"/>
                <a:gridCol w="1930400"/>
              </a:tblGrid>
              <a:tr h="47625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算例名称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物理场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最小细节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物理域尺寸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目标物尺寸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介质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&lt;名称&gt;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&lt;场&gt;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&lt;尺寸/单位&gt;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&lt;尺寸/单位&gt;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&lt;尺寸/单位&gt;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&lt;类型&gt;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label-detail">
            <a:extLst>
              <a:ext uri="{FF2B5EF4-FFF2-40B4-BE49-F238E27FC236}">
                <ns2:creationId id="{402C767A-1874-4935-9BCF-2703C7866710}"/>
              </a:ext>
            </a:extLst>
          </p:cNvPr>
          <p:cNvSpPr>
            <a:spLocks noGrp="1"/>
          </p:cNvSpPr>
          <p:nvPr/>
        </p:nvSpPr>
        <p:spPr>
          <a:xfrm>
            <a:off x="304800" y="4095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细节部分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="304800" y="4457700"/>
          <a:ext cx="6667500" cy="819150"/>
        </p:xfrm>
        <a:graphic>
          <a:graphicData uri="http://schemas.openxmlformats.org/drawingml/2006/table">
            <a:tbl>
              <a:tblPr firstRow="1" bandRow="0"/>
              <a:tblGrid>
                <a:gridCol w="1666875"/>
                <a:gridCol w="1666875"/>
                <a:gridCol w="1666875"/>
                <a:gridCol w="1666875"/>
              </a:tblGrid>
              <a:tr h="40957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部分名称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几何尺寸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介质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最小波长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&lt;名称&gt;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&lt;尺寸/单位&gt;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&lt;类型&gt;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&lt;数值/单位&gt;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label-boundary">
            <a:extLst>
              <a:ext uri="{FF2B5EF4-FFF2-40B4-BE49-F238E27FC236}">
                <ns2:creationId id="{DB051695-596D-48AB-BA60-C00A35D5401E}"/>
              </a:ext>
            </a:extLst>
          </p:cNvPr>
          <p:cNvSpPr>
            <a:spLocks noGrp="1"/>
          </p:cNvSpPr>
          <p:nvPr/>
        </p:nvSpPr>
        <p:spPr>
          <a:xfrm>
            <a:off x="7162800" y="4095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介质与边条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="7162800" y="4457700"/>
          <a:ext cx="4724400" cy="819150"/>
        </p:xfrm>
        <a:graphic>
          <a:graphicData uri="http://schemas.openxmlformats.org/drawingml/2006/table">
            <a:tbl>
              <a:tblPr firstRow="1" bandRow="0"/>
              <a:tblGrid>
                <a:gridCol w="2362200"/>
                <a:gridCol w="2362200"/>
              </a:tblGrid>
              <a:tr h="40957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介质描述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边界条件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&lt;区域介质&gt;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&lt;边界类型/位置&gt;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ns3:creationId val="806557969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title">
            <a:extLst>
              <a:ext uri="{FF2B5EF4-FFF2-40B4-BE49-F238E27FC236}">
                <ns2:creationId id="{EE89F71B-4164-4F9A-B0CD-775F2854DB83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材料参数｜频变曲线与数据表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83C51784-147D-4C24-B150-5EE600D46D41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频变材料同时给曲线和数据点，坐标、单位和来源保持一致。</a:t>
            </a:r>
          </a:p>
        </p:txBody>
      </p:sp>
      <p:sp>
        <p:nvSpPr>
          <p:cNvPr id="3" name="material-curve">
            <a:extLst>
              <a:ext uri="{FF2B5EF4-FFF2-40B4-BE49-F238E27FC236}">
                <ns2:creationId id="{24717936-6464-4AD4-BFE9-1910CEF5A7B7}"/>
              </a:ext>
            </a:extLst>
          </p:cNvPr>
          <p:cNvSpPr>
            <a:spLocks noGrp="1"/>
          </p:cNvSpPr>
          <p:nvPr/>
        </p:nvSpPr>
        <p:spPr>
          <a:xfrm>
            <a:off x="304800" y="1333500"/>
            <a:ext cx="6477000" cy="43815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材料参数曲线占位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替换为可检查图片；保留坐标、单位、图例和标注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="7239000" y="1333500"/>
          <a:ext cx="4572000" cy="3810000"/>
        </p:xfrm>
        <a:graphic>
          <a:graphicData uri="http://schemas.openxmlformats.org/drawingml/2006/table">
            <a:tbl>
              <a:tblPr firstRow="1" bandRow="0"/>
              <a:tblGrid>
                <a:gridCol w="952500"/>
                <a:gridCol w="1238250"/>
                <a:gridCol w="1190625"/>
                <a:gridCol w="1190625"/>
              </a:tblGrid>
              <a:tr h="635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参数1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参数2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参数3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&lt;文献/测量/拟合&gt;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material-note">
            <a:extLst>
              <a:ext uri="{FF2B5EF4-FFF2-40B4-BE49-F238E27FC236}">
                <ns2:creationId id="{BFBD16E4-CB04-4524-B52F-6DE331E88ECF}"/>
              </a:ext>
            </a:extLst>
          </p:cNvPr>
          <p:cNvSpPr>
            <a:spLocks noGrp="1"/>
          </p:cNvSpPr>
          <p:nvPr/>
        </p:nvSpPr>
        <p:spPr>
          <a:xfrm>
            <a:off x="7239000" y="5334000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单位：&lt;频率单位&gt;/&lt;参数单位&gt;；来源：&lt;编号&gt;。</a:t>
            </a:r>
          </a:p>
        </p:txBody>
      </p:sp>
    </p:spTree>
    <p:extLst>
      <p:ext uri="{BB962C8B-B14F-4D97-AF65-F5344CB8AC3E}">
        <ns3:creationId val="771239056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itle">
            <a:extLst>
              <a:ext uri="{FF2B5EF4-FFF2-40B4-BE49-F238E27FC236}">
                <ns2:creationId id="{C4553E48-2297-4AD7-9906-0F3FDE4BE01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计算资源｜网格未知量与耗时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869D126C-3A23-4570-9A9F-58EDDF253E14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资源页列出网格、未知量、时间步、内存和总耗时，口径可比。</a:t>
            </a:r>
          </a:p>
        </p:txBody>
      </p:sp>
      <p:sp>
        <p:nvSpPr>
          <p:cNvPr id="3" name="mesh-label">
            <a:extLst>
              <a:ext uri="{FF2B5EF4-FFF2-40B4-BE49-F238E27FC236}">
                <ns2:creationId id="{469BBC89-10CB-4206-AD3A-640BC8CA3031}"/>
              </a:ext>
            </a:extLst>
          </p:cNvPr>
          <p:cNvSpPr>
            <a:spLocks noGrp="1"/>
          </p:cNvSpPr>
          <p:nvPr/>
        </p:nvSpPr>
        <p:spPr>
          <a:xfrm>
            <a:off x="304800" y="125730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剖分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="304800" y="1600200"/>
          <a:ext cx="11582400" cy="819150"/>
        </p:xfrm>
        <a:graphic>
          <a:graphicData uri="http://schemas.openxmlformats.org/drawingml/2006/table">
            <a:tbl>
              <a:tblPr firstRow="1" bandRow="0"/>
              <a:tblGrid>
                <a:gridCol w="1654629"/>
                <a:gridCol w="1654629"/>
                <a:gridCol w="1654629"/>
                <a:gridCol w="1654629"/>
                <a:gridCol w="1654629"/>
                <a:gridCol w="1654629"/>
                <a:gridCol w="1654629"/>
              </a:tblGrid>
              <a:tr h="40957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网格数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阶数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最小网格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最大网格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PPW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关键1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关键2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&lt;阶数&gt;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&lt;尺寸&gt;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&lt;尺寸&gt;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resource-label">
            <a:extLst>
              <a:ext uri="{FF2B5EF4-FFF2-40B4-BE49-F238E27FC236}">
                <ns2:creationId id="{2D7C6143-09BD-4D14-85DE-F4E1A54482EC}"/>
              </a:ext>
            </a:extLst>
          </p:cNvPr>
          <p:cNvSpPr>
            <a:spLocks noGrp="1"/>
          </p:cNvSpPr>
          <p:nvPr/>
        </p:nvSpPr>
        <p:spPr>
          <a:xfrm>
            <a:off x="304800" y="26289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未知量与资源用量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="304800" y="2971800"/>
          <a:ext cx="11582400" cy="819150"/>
        </p:xfrm>
        <a:graphic>
          <a:graphicData uri="http://schemas.openxmlformats.org/drawingml/2006/table">
            <a:tbl>
              <a:tblPr firstRow="1" bandRow="0"/>
              <a:tblGrid>
                <a:gridCol w="1654629"/>
                <a:gridCol w="1654629"/>
                <a:gridCol w="1654629"/>
                <a:gridCol w="1654629"/>
                <a:gridCol w="1654629"/>
                <a:gridCol w="1654629"/>
                <a:gridCol w="1654629"/>
              </a:tblGrid>
              <a:tr h="40957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未知量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时间窗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最小步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步数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核数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耗时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&lt;时间&gt;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&lt;时间&gt;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&lt;容量&gt;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&lt;数量&gt;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1" u="sng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&lt;时间&gt;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time-label">
            <a:extLst>
              <a:ext uri="{FF2B5EF4-FFF2-40B4-BE49-F238E27FC236}">
                <ns2:creationId id="{94DF2A87-90FD-430E-9EB2-B70223B41998}"/>
              </a:ext>
            </a:extLst>
          </p:cNvPr>
          <p:cNvSpPr>
            <a:spLocks noGrp="1"/>
          </p:cNvSpPr>
          <p:nvPr/>
        </p:nvSpPr>
        <p:spPr>
          <a:xfrm>
            <a:off x="304800" y="40005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时间分级或其他时间步信息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="304800" y="4343400"/>
          <a:ext cx="5715000" cy="819150"/>
        </p:xfrm>
        <a:graphic>
          <a:graphicData uri="http://schemas.openxmlformats.org/drawingml/2006/table">
            <a:tbl>
              <a:tblPr firstRow="1" bandRow="0"/>
              <a:tblGrid>
                <a:gridCol w="2857500"/>
                <a:gridCol w="2857500"/>
              </a:tblGrid>
              <a:tr h="27305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33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&lt;分级&gt;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&lt;参数&gt;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&lt;数值&gt;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resource-note">
            <a:extLst>
              <a:ext uri="{FF2B5EF4-FFF2-40B4-BE49-F238E27FC236}">
                <ns2:creationId id="{0EBEFB38-9F76-481A-9F89-CA3DE5260453}"/>
              </a:ext>
            </a:extLst>
          </p:cNvPr>
          <p:cNvSpPr>
            <a:spLocks noGrp="1"/>
          </p:cNvSpPr>
          <p:nvPr/>
        </p:nvSpPr>
        <p:spPr>
          <a:xfrm>
            <a:off x="6477000" y="4343400"/>
            <a:ext cx="54102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注：PPW对应最大频率，并给出分布图。</a:t>
            </a:r>
          </a:p>
        </p:txBody>
      </p:sp>
    </p:spTree>
    <p:extLst>
      <p:ext uri="{BB962C8B-B14F-4D97-AF65-F5344CB8AC3E}">
        <ns3:creationId val="238346279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title">
            <a:extLst>
              <a:ext uri="{FF2B5EF4-FFF2-40B4-BE49-F238E27FC236}">
                <ns2:creationId id="{4006F821-4765-4057-99AE-C5E7378C70B1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网格与特征｜坐标刻度齐全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2F7EDDF7-7F57-46F1-BF82-871EDC525FA3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展示等轴网格、关键几何和局部特征，避免只给无刻度渲染图。</a:t>
            </a:r>
          </a:p>
        </p:txBody>
      </p:sp>
      <p:sp>
        <p:nvSpPr>
          <p:cNvPr id="3" name="mesh-0">
            <a:extLst>
              <a:ext uri="{FF2B5EF4-FFF2-40B4-BE49-F238E27FC236}">
                <ns2:creationId id="{CBBF142C-C3E0-40E4-8E70-786C254179A2}"/>
              </a:ext>
            </a:extLst>
          </p:cNvPr>
          <p:cNvSpPr>
            <a:spLocks noGrp="1"/>
          </p:cNvSpPr>
          <p:nvPr/>
        </p:nvSpPr>
        <p:spPr>
          <a:xfrm>
            <a:off x="304800" y="1333500"/>
            <a:ext cx="56197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1. 等轴视图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替换为可检查图片；保留坐标、单位、图例和标注</a:t>
            </a:r>
          </a:p>
        </p:txBody>
      </p:sp>
      <p:sp>
        <p:nvSpPr>
          <p:cNvPr id="4" name="mesh-note-0">
            <a:extLst>
              <a:ext uri="{FF2B5EF4-FFF2-40B4-BE49-F238E27FC236}">
                <ns2:creationId id="{C531B1C9-FCC7-411A-9EF5-DCC43030096B}"/>
              </a:ext>
            </a:extLst>
          </p:cNvPr>
          <p:cNvSpPr>
            <a:spLocks noGrp="1"/>
          </p:cNvSpPr>
          <p:nvPr/>
        </p:nvSpPr>
        <p:spPr>
          <a:xfrm>
            <a:off x="304800" y="3476625"/>
            <a:ext cx="561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坐标轴、比例、单位</a:t>
            </a:r>
          </a:p>
        </p:txBody>
      </p:sp>
      <p:sp>
        <p:nvSpPr>
          <p:cNvPr id="5" name="mesh-1">
            <a:extLst>
              <a:ext uri="{FF2B5EF4-FFF2-40B4-BE49-F238E27FC236}">
                <ns2:creationId id="{64987FDE-08FB-4306-B952-45D8DD81BEE6}"/>
              </a:ext>
            </a:extLst>
          </p:cNvPr>
          <p:cNvSpPr>
            <a:spLocks noGrp="1"/>
          </p:cNvSpPr>
          <p:nvPr/>
        </p:nvSpPr>
        <p:spPr>
          <a:xfrm>
            <a:off x="6115050" y="1333500"/>
            <a:ext cx="56197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2. 主视图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替换为可检查图片；保留坐标、单位、图例和标注</a:t>
            </a:r>
          </a:p>
        </p:txBody>
      </p:sp>
      <p:sp>
        <p:nvSpPr>
          <p:cNvPr id="6" name="mesh-note-1">
            <a:extLst>
              <a:ext uri="{FF2B5EF4-FFF2-40B4-BE49-F238E27FC236}">
                <ns2:creationId id="{CC23C589-A437-4DC7-810F-4052E9B8FFE3}"/>
              </a:ext>
            </a:extLst>
          </p:cNvPr>
          <p:cNvSpPr>
            <a:spLocks noGrp="1"/>
          </p:cNvSpPr>
          <p:nvPr/>
        </p:nvSpPr>
        <p:spPr>
          <a:xfrm>
            <a:off x="6115050" y="3476625"/>
            <a:ext cx="561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关键尺寸标注</a:t>
            </a:r>
          </a:p>
        </p:txBody>
      </p:sp>
      <p:sp>
        <p:nvSpPr>
          <p:cNvPr id="7" name="mesh-2">
            <a:extLst>
              <a:ext uri="{FF2B5EF4-FFF2-40B4-BE49-F238E27FC236}">
                <ns2:creationId id="{4AEBC19A-EDF7-4F8B-87EC-36AF4940B0B3}"/>
              </a:ext>
            </a:extLst>
          </p:cNvPr>
          <p:cNvSpPr>
            <a:spLocks noGrp="1"/>
          </p:cNvSpPr>
          <p:nvPr/>
        </p:nvSpPr>
        <p:spPr>
          <a:xfrm>
            <a:off x="304800" y="3714750"/>
            <a:ext cx="56197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3. 侧视图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替换为可检查图片；保留坐标、单位、图例和标注</a:t>
            </a:r>
          </a:p>
        </p:txBody>
      </p:sp>
      <p:sp>
        <p:nvSpPr>
          <p:cNvPr id="8" name="mesh-note-2">
            <a:extLst>
              <a:ext uri="{FF2B5EF4-FFF2-40B4-BE49-F238E27FC236}">
                <ns2:creationId id="{B9582A9E-9A13-4D74-A888-B80CF8F1CB80}"/>
              </a:ext>
            </a:extLst>
          </p:cNvPr>
          <p:cNvSpPr>
            <a:spLocks noGrp="1"/>
          </p:cNvSpPr>
          <p:nvPr/>
        </p:nvSpPr>
        <p:spPr>
          <a:xfrm>
            <a:off x="304800" y="5857875"/>
            <a:ext cx="561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边界和截取位置</a:t>
            </a:r>
          </a:p>
        </p:txBody>
      </p:sp>
      <p:sp>
        <p:nvSpPr>
          <p:cNvPr id="9" name="mesh-3">
            <a:extLst>
              <a:ext uri="{FF2B5EF4-FFF2-40B4-BE49-F238E27FC236}">
                <ns2:creationId id="{10B4EBCC-473E-4D3A-BAFB-77F7B332E0E9}"/>
              </a:ext>
            </a:extLst>
          </p:cNvPr>
          <p:cNvSpPr>
            <a:spLocks noGrp="1"/>
          </p:cNvSpPr>
          <p:nvPr/>
        </p:nvSpPr>
        <p:spPr>
          <a:xfrm>
            <a:off x="6115050" y="3714750"/>
            <a:ext cx="56197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4. 关键特征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替换为可检查图片；保留坐标、单位、图例和标注</a:t>
            </a:r>
          </a:p>
        </p:txBody>
      </p:sp>
      <p:sp>
        <p:nvSpPr>
          <p:cNvPr id="10" name="mesh-note-3">
            <a:extLst>
              <a:ext uri="{FF2B5EF4-FFF2-40B4-BE49-F238E27FC236}">
                <ns2:creationId id="{DE1B9EE2-8ECE-42B1-87D0-173D4495812D}"/>
              </a:ext>
            </a:extLst>
          </p:cNvPr>
          <p:cNvSpPr>
            <a:spLocks noGrp="1"/>
          </p:cNvSpPr>
          <p:nvPr/>
        </p:nvSpPr>
        <p:spPr>
          <a:xfrm>
            <a:off x="6115050" y="5857875"/>
            <a:ext cx="561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局部网格/最小细节</a:t>
            </a:r>
          </a:p>
        </p:txBody>
      </p:sp>
    </p:spTree>
    <p:extLst>
      <p:ext uri="{BB962C8B-B14F-4D97-AF65-F5344CB8AC3E}">
        <ns3:creationId val="1222373589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itle">
            <a:extLst>
              <a:ext uri="{FF2B5EF4-FFF2-40B4-BE49-F238E27FC236}">
                <ns2:creationId id="{AFFA6F65-CB1F-4E2E-B4AA-40130D81C398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图片要求｜直观清晰图例完整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63A1BCA1-E7FD-443D-9550-532E95A84A8B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两张对照图共享字段和单位，说明差异而不遮挡内容。</a:t>
            </a:r>
          </a:p>
        </p:txBody>
      </p:sp>
      <p:sp>
        <p:nvSpPr>
          <p:cNvPr id="3" name="figure-a">
            <a:extLst>
              <a:ext uri="{FF2B5EF4-FFF2-40B4-BE49-F238E27FC236}">
                <ns2:creationId id="{ACE2FF6D-48A9-4861-9AC1-1848EF244271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53340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方法一结果占位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替换为可检查图片；保留坐标、单位、图例和标注</a:t>
            </a:r>
          </a:p>
        </p:txBody>
      </p:sp>
      <p:sp>
        <p:nvSpPr>
          <p:cNvPr id="4" name="figure-b">
            <a:extLst>
              <a:ext uri="{FF2B5EF4-FFF2-40B4-BE49-F238E27FC236}">
                <ns2:creationId id="{78FE5452-D9FA-4FAB-AE9E-36854EB46D5A}"/>
              </a:ext>
            </a:extLst>
          </p:cNvPr>
          <p:cNvSpPr>
            <a:spLocks noGrp="1"/>
          </p:cNvSpPr>
          <p:nvPr/>
        </p:nvSpPr>
        <p:spPr>
          <a:xfrm>
            <a:off x="6477000" y="1428750"/>
            <a:ext cx="53340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方法二结果占位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替换为可检查图片；保留坐标、单位、图例和标注</a:t>
            </a:r>
          </a:p>
        </p:txBody>
      </p:sp>
      <p:sp>
        <p:nvSpPr>
          <p:cNvPr id="5" name="figure-caption">
            <a:extLst>
              <a:ext uri="{FF2B5EF4-FFF2-40B4-BE49-F238E27FC236}">
                <ns2:creationId id="{3D3951BB-7FE9-4D6B-B518-900FA5C4B022}"/>
              </a:ext>
            </a:extLst>
          </p:cNvPr>
          <p:cNvSpPr>
            <a:spLocks noGrp="1"/>
          </p:cNvSpPr>
          <p:nvPr/>
        </p:nvSpPr>
        <p:spPr>
          <a:xfrm>
            <a:off x="381000" y="4857750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 = &lt;数值&gt; &lt;单位&gt;；物理量 = &lt;符号&gt; (&lt;单位&gt;)。</a:t>
            </a:r>
          </a:p>
        </p:txBody>
      </p:sp>
      <p:sp>
        <p:nvSpPr>
          <p:cNvPr id="6" name="figure-caption-b">
            <a:extLst>
              <a:ext uri="{FF2B5EF4-FFF2-40B4-BE49-F238E27FC236}">
                <ns2:creationId id="{40C8D942-464D-4A1D-A847-52BD8567CC55}"/>
              </a:ext>
            </a:extLst>
          </p:cNvPr>
          <p:cNvSpPr>
            <a:spLocks noGrp="1"/>
          </p:cNvSpPr>
          <p:nvPr/>
        </p:nvSpPr>
        <p:spPr>
          <a:xfrm>
            <a:off x="6477000" y="4857750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标注差异：&lt;条件/数值/单位&gt;。</a:t>
            </a:r>
          </a:p>
        </p:txBody>
      </p:sp>
      <p:sp>
        <p:nvSpPr>
          <p:cNvPr id="7" name="image-rules">
            <a:extLst>
              <a:ext uri="{FF2B5EF4-FFF2-40B4-BE49-F238E27FC236}">
                <ns2:creationId id="{E472F4B3-9A22-41E3-A1A2-F8B87D35A8D7}"/>
              </a:ext>
            </a:extLst>
          </p:cNvPr>
          <p:cNvSpPr>
            <a:spLocks noGrp="1"/>
          </p:cNvSpPr>
          <p:nvPr/>
        </p:nvSpPr>
        <p:spPr>
          <a:xfrm>
            <a:off x="381000" y="5429250"/>
            <a:ext cx="11430000" cy="762000"/>
          </a:xfrm>
          <a:prstGeom prst="roundRect">
            <a:avLst>
              <a:gd name="adj" fmla="val 10000"/>
            </a:avLst>
          </a:prstGeom>
          <a:solidFill>
            <a:srgbClr val="D9E2F3"/>
          </a:solidFill>
          <a:ln w="11430">
            <a:solidFill>
              <a:srgbClr val="00339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检查：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坐标与单位齐全；数字与单位空一格；图例完整；不用斜体，公式除外。</a:t>
            </a:r>
          </a:p>
        </p:txBody>
      </p:sp>
    </p:spTree>
    <p:extLst>
      <p:ext uri="{BB962C8B-B14F-4D97-AF65-F5344CB8AC3E}">
        <ns3:creationId val="1748696668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title">
            <a:extLst>
              <a:ext uri="{FF2B5EF4-FFF2-40B4-BE49-F238E27FC236}">
                <ns2:creationId id="{9E372AA3-6C7E-4FE0-BBCA-592D493F297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可视化要求｜物理量和单位清楚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B02676AB-720F-48FE-947F-3CD94343084E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可视化图保留物理量、单位、图题和动态变化，不追求装饰效果。</a:t>
            </a:r>
          </a:p>
        </p:txBody>
      </p:sp>
      <p:sp>
        <p:nvSpPr>
          <p:cNvPr id="3" name="visual-a">
            <a:extLst>
              <a:ext uri="{FF2B5EF4-FFF2-40B4-BE49-F238E27FC236}">
                <ns2:creationId id="{6FAF3B0C-C517-4FD4-B0D6-5AEB79F36570}"/>
              </a:ext>
            </a:extLst>
          </p:cNvPr>
          <p:cNvSpPr>
            <a:spLocks noGrp="1"/>
          </p:cNvSpPr>
          <p:nvPr/>
        </p:nvSpPr>
        <p:spPr>
          <a:xfrm>
            <a:off x="381000" y="1333500"/>
            <a:ext cx="5524500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方法一可视化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替换为可检查图片；保留坐标、单位、图例和标注</a:t>
            </a:r>
          </a:p>
        </p:txBody>
      </p:sp>
      <p:sp>
        <p:nvSpPr>
          <p:cNvPr id="4" name="visual-b">
            <a:extLst>
              <a:ext uri="{FF2B5EF4-FFF2-40B4-BE49-F238E27FC236}">
                <ns2:creationId id="{FCAE60AF-1FFA-4E2A-AF87-5BE2F03AEB5B}"/>
              </a:ext>
            </a:extLst>
          </p:cNvPr>
          <p:cNvSpPr>
            <a:spLocks noGrp="1"/>
          </p:cNvSpPr>
          <p:nvPr/>
        </p:nvSpPr>
        <p:spPr>
          <a:xfrm>
            <a:off x="6286500" y="1333500"/>
            <a:ext cx="5524500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方法二可视化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替换为可检查图片；保留坐标、单位、图例和标注</a:t>
            </a:r>
          </a:p>
        </p:txBody>
      </p:sp>
      <p:sp>
        <p:nvSpPr>
          <p:cNvPr id="5" name="visual-rules">
            <a:extLst>
              <a:ext uri="{FF2B5EF4-FFF2-40B4-BE49-F238E27FC236}">
                <ns2:creationId id="{F2E01706-E852-4058-ADFA-6FBB0F00E5E2}"/>
              </a:ext>
            </a:extLst>
          </p:cNvPr>
          <p:cNvSpPr>
            <a:spLocks noGrp="1"/>
          </p:cNvSpPr>
          <p:nvPr/>
        </p:nvSpPr>
        <p:spPr>
          <a:xfrm>
            <a:off x="381000" y="4857750"/>
            <a:ext cx="11430000" cy="1333500"/>
          </a:xfrm>
          <a:prstGeom prst="roundRect">
            <a:avLst>
              <a:gd name="adj" fmla="val 5714"/>
            </a:avLst>
          </a:prstGeom>
          <a:solidFill>
            <a:srgbClr val="D9E2F3"/>
          </a:solidFill>
          <a:ln w="11430">
            <a:solidFill>
              <a:srgbClr val="00339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1. 透明背景：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保留对象边界和关键区域，不影响读数。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2. 单位选择：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colorbar用适合阅读的单位，如2 mA优于0.002 A。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3. 动态展示：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动图呈现物理量变化并保留时间标签。</a:t>
            </a:r>
          </a:p>
        </p:txBody>
      </p:sp>
    </p:spTree>
    <p:extLst>
      <p:ext uri="{BB962C8B-B14F-4D97-AF65-F5344CB8AC3E}">
        <ns3:creationId val="1358442265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itle">
            <a:extLst>
              <a:ext uri="{FF2B5EF4-FFF2-40B4-BE49-F238E27FC236}">
                <ns2:creationId id="{F39B2ED4-8B93-4EE5-BD41-4A61340D2D36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负面案例｜缺轴单位和标注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06E24289-456C-4598-8FCC-8E2C330FACF9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四图对照必须补坐标、单位、视图名称、物理量和colorbar。</a:t>
            </a:r>
          </a:p>
        </p:txBody>
      </p:sp>
      <p:sp>
        <p:nvSpPr>
          <p:cNvPr id="3" name="negative-text">
            <a:extLst>
              <a:ext uri="{FF2B5EF4-FFF2-40B4-BE49-F238E27FC236}">
                <ns2:creationId id="{F9D8E67F-F076-4560-84EE-0D5ED4C0080F}"/>
              </a:ext>
            </a:extLst>
          </p:cNvPr>
          <p:cNvSpPr>
            <a:spLocks noGrp="1"/>
          </p:cNvSpPr>
          <p:nvPr/>
        </p:nvSpPr>
        <p:spPr>
          <a:xfrm>
            <a:off x="304800" y="1333500"/>
            <a:ext cx="4095750" cy="42862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1430">
            <a:solidFill>
              <a:srgbClr val="C00000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u="sng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需修正：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1. 坐标轴和单位
2. 四图文字说明
3. 物理量名称
4. colorbar物理量与单位</a:t>
            </a:r>
          </a:p>
        </p:txBody>
      </p:sp>
      <p:sp>
        <p:nvSpPr>
          <p:cNvPr id="4" name="negative-0">
            <a:extLst>
              <a:ext uri="{FF2B5EF4-FFF2-40B4-BE49-F238E27FC236}">
                <ns2:creationId id="{587067B8-1015-44C1-908B-E90F27C92A5F}"/>
              </a:ext>
            </a:extLst>
          </p:cNvPr>
          <p:cNvSpPr>
            <a:spLocks noGrp="1"/>
          </p:cNvSpPr>
          <p:nvPr/>
        </p:nvSpPr>
        <p:spPr>
          <a:xfrm>
            <a:off x="4762500" y="133350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视图1占位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替换为可检查图片；保留坐标、单位、图例和标注</a:t>
            </a:r>
          </a:p>
        </p:txBody>
      </p:sp>
      <p:sp>
        <p:nvSpPr>
          <p:cNvPr id="5" name="negative-1">
            <a:extLst>
              <a:ext uri="{FF2B5EF4-FFF2-40B4-BE49-F238E27FC236}">
                <ns2:creationId id="{F31079DE-BA31-495F-B5E4-8A897DEA549E}"/>
              </a:ext>
            </a:extLst>
          </p:cNvPr>
          <p:cNvSpPr>
            <a:spLocks noGrp="1"/>
          </p:cNvSpPr>
          <p:nvPr/>
        </p:nvSpPr>
        <p:spPr>
          <a:xfrm>
            <a:off x="8191500" y="133350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视图2占位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替换为可检查图片；保留坐标、单位、图例和标注</a:t>
            </a:r>
          </a:p>
        </p:txBody>
      </p:sp>
      <p:sp>
        <p:nvSpPr>
          <p:cNvPr id="6" name="negative-2">
            <a:extLst>
              <a:ext uri="{FF2B5EF4-FFF2-40B4-BE49-F238E27FC236}">
                <ns2:creationId id="{3DB88229-3E18-4D2C-B05D-4299F03A102E}"/>
              </a:ext>
            </a:extLst>
          </p:cNvPr>
          <p:cNvSpPr>
            <a:spLocks noGrp="1"/>
          </p:cNvSpPr>
          <p:nvPr/>
        </p:nvSpPr>
        <p:spPr>
          <a:xfrm>
            <a:off x="4762500" y="342900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视图3占位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替换为可检查图片；保留坐标、单位、图例和标注</a:t>
            </a:r>
          </a:p>
        </p:txBody>
      </p:sp>
      <p:sp>
        <p:nvSpPr>
          <p:cNvPr id="7" name="negative-3">
            <a:extLst>
              <a:ext uri="{FF2B5EF4-FFF2-40B4-BE49-F238E27FC236}">
                <ns2:creationId id="{7D559F74-8668-4C59-AF64-AF143BFCBF55}"/>
              </a:ext>
            </a:extLst>
          </p:cNvPr>
          <p:cNvSpPr>
            <a:spLocks noGrp="1"/>
          </p:cNvSpPr>
          <p:nvPr/>
        </p:nvSpPr>
        <p:spPr>
          <a:xfrm>
            <a:off x="8191500" y="342900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视图4占位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替换为可检查图片；保留坐标、单位、图例和标注</a:t>
            </a:r>
          </a:p>
        </p:txBody>
      </p:sp>
    </p:spTree>
    <p:extLst>
      <p:ext uri="{BB962C8B-B14F-4D97-AF65-F5344CB8AC3E}">
        <ns3:creationId val="1261252058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itle">
            <a:extLst>
              <a:ext uri="{FF2B5EF4-FFF2-40B4-BE49-F238E27FC236}">
                <ns2:creationId id="{81BFC7E9-9452-4342-9D27-E264D4C7DB4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负面案例｜内容顶格难读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66026459-F1F8-46C4-B2C1-6CBDF01C777E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页面四周保留不少于一个24号汉字的空白，内容不压边。</a:t>
            </a:r>
          </a:p>
        </p:txBody>
      </p:sp>
      <p:sp>
        <p:nvSpPr>
          <p:cNvPr id="3" name="wrong-area">
            <a:extLst>
              <a:ext uri="{FF2B5EF4-FFF2-40B4-BE49-F238E27FC236}">
                <ns2:creationId id="{F4DF8DB8-F7FA-4DDE-9C7F-CC4F951C0646}"/>
              </a:ext>
            </a:extLst>
          </p:cNvPr>
          <p:cNvSpPr>
            <a:spLocks noGrp="1"/>
          </p:cNvSpPr>
          <p:nvPr/>
        </p:nvSpPr>
        <p:spPr>
          <a:xfrm>
            <a:off x="1714500" y="1619250"/>
            <a:ext cx="87630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1430">
            <a:solidFill>
              <a:srgbClr val="C00000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u="sng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不这样做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文字和图片顶到页面边缘；多个对象互相遮挡。</a:t>
            </a:r>
          </a:p>
        </p:txBody>
      </p:sp>
      <p:sp>
        <p:nvSpPr>
          <p:cNvPr id="4" name="right-area">
            <a:extLst>
              <a:ext uri="{FF2B5EF4-FFF2-40B4-BE49-F238E27FC236}">
                <ns2:creationId id="{D54F3BFA-E2F6-414B-9E14-C1B1A62076FE}"/>
              </a:ext>
            </a:extLst>
          </p:cNvPr>
          <p:cNvSpPr>
            <a:spLocks noGrp="1"/>
          </p:cNvSpPr>
          <p:nvPr/>
        </p:nvSpPr>
        <p:spPr>
          <a:xfrm>
            <a:off x="1143000" y="4667250"/>
            <a:ext cx="9906000" cy="9525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1430">
            <a:solidFill>
              <a:srgbClr val="00339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正确做法：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四周留白，内容分组，先拆页再保留关键信息。</a:t>
            </a:r>
          </a:p>
        </p:txBody>
      </p:sp>
    </p:spTree>
    <p:extLst>
      <p:ext uri="{BB962C8B-B14F-4D97-AF65-F5344CB8AC3E}">
        <ns3:creationId val="169166371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itle">
            <a:extLst>
              <a:ext uri="{FF2B5EF4-FFF2-40B4-BE49-F238E27FC236}">
                <ns2:creationId id="{009804CE-D2DF-4680-8C04-4B222B39B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配色规则｜按重要度红蓝黑分级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54DFE030-8F01-4CE1-83D7-421269DBF6A5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重要度决定颜色：红色只放决定项，蓝色放重要信息，黑色承担一般内容。</a:t>
            </a:r>
          </a:p>
        </p:txBody>
      </p:sp>
      <p:sp>
        <p:nvSpPr>
          <p:cNvPr id="3" name="critical-style">
            <a:extLst>
              <a:ext uri="{FF2B5EF4-FFF2-40B4-BE49-F238E27FC236}">
                <ns2:creationId id="{3F8A972C-DD66-4C7D-A5E8-757371FA2E43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3619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C00000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18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u="sng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非常重要：红色</a:t>
            </a:r>
          </a:p>
          <a:p>
            <a:pPr algn="ctr">
              <a:defRPr sz="18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结论、贡献、关键指标、风险；每页≤3处</a:t>
            </a:r>
          </a:p>
        </p:txBody>
      </p:sp>
      <p:sp>
        <p:nvSpPr>
          <p:cNvPr id="4" name="important-style">
            <a:extLst>
              <a:ext uri="{FF2B5EF4-FFF2-40B4-BE49-F238E27FC236}">
                <ns2:creationId id="{3ED449B8-5C02-425F-BA81-FA3D1479D827}"/>
              </a:ext>
            </a:extLst>
          </p:cNvPr>
          <p:cNvSpPr>
            <a:spLocks noGrp="1"/>
          </p:cNvSpPr>
          <p:nvPr/>
        </p:nvSpPr>
        <p:spPr>
          <a:xfrm>
            <a:off x="4286250" y="1428750"/>
            <a:ext cx="3619500" cy="1809750"/>
          </a:xfrm>
          <a:prstGeom prst="roundRect">
            <a:avLst>
              <a:gd name="adj" fmla="val 4211"/>
            </a:avLst>
          </a:prstGeom>
          <a:solidFill>
            <a:srgbClr val="D9E2F3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18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重要：蓝色</a:t>
            </a:r>
          </a:p>
          <a:p>
            <a:pPr algn="ctr">
              <a:defRPr sz="18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凝练判断、重要结果、阶段方法</a:t>
            </a:r>
          </a:p>
        </p:txBody>
      </p:sp>
      <p:sp>
        <p:nvSpPr>
          <p:cNvPr id="5" name="normal-style">
            <a:extLst>
              <a:ext uri="{FF2B5EF4-FFF2-40B4-BE49-F238E27FC236}">
                <ns2:creationId id="{3F239F01-9A4C-4065-8335-D511AB5CDFB3}"/>
              </a:ext>
            </a:extLst>
          </p:cNvPr>
          <p:cNvSpPr>
            <a:spLocks noGrp="1"/>
          </p:cNvSpPr>
          <p:nvPr/>
        </p:nvSpPr>
        <p:spPr>
          <a:xfrm>
            <a:off x="8191500" y="1428750"/>
            <a:ext cx="3619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18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一般：黑色</a:t>
            </a:r>
          </a:p>
          <a:p>
            <a:pPr algn="ctr">
              <a:defRPr sz="18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物理量、输入输出、一般结果</a:t>
            </a:r>
          </a:p>
        </p:txBody>
      </p:sp>
      <p:sp>
        <p:nvSpPr>
          <p:cNvPr id="6" name="de-emphasized-rule">
            <a:extLst>
              <a:ext uri="{FF2B5EF4-FFF2-40B4-BE49-F238E27FC236}">
                <ns2:creationId id="{1014E29B-C634-4981-B269-983E1F2AEA68}"/>
              </a:ext>
            </a:extLst>
          </p:cNvPr>
          <p:cNvSpPr>
            <a:spLocks noGrp="1"/>
          </p:cNvSpPr>
          <p:nvPr/>
        </p:nvSpPr>
        <p:spPr>
          <a:xfrm>
            <a:off x="381000" y="3476625"/>
            <a:ext cx="1143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不强调：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修饰性解释用黑色常规，能删则删。</a:t>
            </a:r>
          </a:p>
        </p:txBody>
      </p:sp>
      <p:sp>
        <p:nvSpPr>
          <p:cNvPr id="7" name="result-stage-rule">
            <a:extLst>
              <a:ext uri="{FF2B5EF4-FFF2-40B4-BE49-F238E27FC236}">
                <ns2:creationId id="{EED16C8A-35E6-4638-9A8D-11BCE4D1D9C3}"/>
              </a:ext>
            </a:extLst>
          </p:cNvPr>
          <p:cNvSpPr>
            <a:spLocks noGrp="1"/>
          </p:cNvSpPr>
          <p:nvPr/>
        </p:nvSpPr>
        <p:spPr>
          <a:xfrm>
            <a:off x="381000" y="4143375"/>
            <a:ext cx="1143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结果页规则：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方法退为背景，结果按三级重新配色。</a:t>
            </a:r>
          </a:p>
        </p:txBody>
      </p:sp>
      <p:sp>
        <p:nvSpPr>
          <p:cNvPr id="8" name="repeated-module-rule">
            <a:extLst>
              <a:ext uri="{FF2B5EF4-FFF2-40B4-BE49-F238E27FC236}">
                <ns2:creationId id="{F43064EF-8013-4A69-92AC-D0B82421D6BF}"/>
              </a:ext>
            </a:extLst>
          </p:cNvPr>
          <p:cNvSpPr>
            <a:spLocks noGrp="1"/>
          </p:cNvSpPr>
          <p:nvPr/>
        </p:nvSpPr>
        <p:spPr>
          <a:xfrm>
            <a:off x="381000" y="4876800"/>
            <a:ext cx="1143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重复模块规则：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统一格式，只高亮变化值、条件、状态。</a:t>
            </a:r>
          </a:p>
        </p:txBody>
      </p:sp>
      <p:sp>
        <p:nvSpPr>
          <p:cNvPr id="9" name="table-rule">
            <a:extLst>
              <a:ext uri="{FF2B5EF4-FFF2-40B4-BE49-F238E27FC236}">
                <ns2:creationId id="{91955CC1-5E3E-4F5A-B77B-CA2F926F399D}"/>
              </a:ext>
            </a:extLst>
          </p:cNvPr>
          <p:cNvSpPr>
            <a:spLocks noGrp="1"/>
          </p:cNvSpPr>
          <p:nvPr/>
        </p:nvSpPr>
        <p:spPr>
          <a:xfrm>
            <a:off x="381000" y="5610225"/>
            <a:ext cx="1143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表格规则：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表头加粗；关键值红，重要行蓝，其余黑。</a:t>
            </a:r>
          </a:p>
        </p:txBody>
      </p:sp>
    </p:spTree>
    <p:extLst>
      <p:ext uri="{BB962C8B-B14F-4D97-AF65-F5344CB8AC3E}">
        <ns3:creationId val="1608213848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title">
            <a:extLst>
              <a:ext uri="{FF2B5EF4-FFF2-40B4-BE49-F238E27FC236}">
                <ns2:creationId id="{4C8F739A-305B-4763-8E0B-D1DB1F58B1F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04800" y="19050"/>
            <a:ext cx="11582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交付检查｜满足组会模板要求</a:t>
            </a:r>
          </a:p>
        </p:txBody>
      </p:sp>
      <p:sp>
        <p:nvSpPr>
          <p:cNvPr id="2" name="SR58-SUMMARY">
            <a:extLst>
              <a:ext uri="{FF2B5EF4-FFF2-40B4-BE49-F238E27FC236}">
                <ns2:creationId id="{5B351AFA-E691-4C97-9136-52236E405BD9}"/>
              </a:ext>
            </a:extLst>
          </p:cNvPr>
          <p:cNvSpPr>
            <a:spLocks noGrp="1"/>
          </p:cNvSpPr>
          <p:nvPr/>
        </p:nvSpPr>
        <p:spPr>
          <a:xfrm>
            <a:off x="304800" y="781050"/>
            <a:ext cx="1158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3399"/>
                </a:solidFill>
                <a:latin typeface="Microsoft YaHei"/>
                <a:ea typeface="Microsoft YaHei"/>
                <a:cs typeface="Microsoft YaHei"/>
              </a:rPr>
              <a:t>输出前逐项检查字体、内容、图片、可视化和页面边界。</a:t>
            </a:r>
          </a:p>
        </p:txBody>
      </p:sp>
      <p:sp>
        <p:nvSpPr>
          <p:cNvPr id="3" name="check-a">
            <a:extLst>
              <a:ext uri="{FF2B5EF4-FFF2-40B4-BE49-F238E27FC236}">
                <ns2:creationId id="{C5777655-5679-40D2-9529-03CB8B8DE744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3429000" cy="3333750"/>
          </a:xfrm>
          <a:prstGeom prst="roundRect">
            <a:avLst>
              <a:gd name="adj" fmla="val 2286"/>
            </a:avLst>
          </a:prstGeom>
          <a:solidFill>
            <a:srgbClr val="D9E2F3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字体与内容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微软雅黑；正文≥20pt；一页一句话；结论先行。</a:t>
            </a:r>
          </a:p>
        </p:txBody>
      </p:sp>
      <p:sp>
        <p:nvSpPr>
          <p:cNvPr id="4" name="check-b">
            <a:extLst>
              <a:ext uri="{FF2B5EF4-FFF2-40B4-BE49-F238E27FC236}">
                <ns2:creationId id="{DEFB951E-544C-4D72-B799-3E424D35879B}"/>
              </a:ext>
            </a:extLst>
          </p:cNvPr>
          <p:cNvSpPr>
            <a:spLocks noGrp="1"/>
          </p:cNvSpPr>
          <p:nvPr/>
        </p:nvSpPr>
        <p:spPr>
          <a:xfrm>
            <a:off x="4381500" y="1428750"/>
            <a:ext cx="34290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图片与表格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图例完整；坐标/单位齐全；表头加粗；关键行可追踪。</a:t>
            </a:r>
          </a:p>
        </p:txBody>
      </p:sp>
      <p:sp>
        <p:nvSpPr>
          <p:cNvPr id="5" name="check-c">
            <a:extLst>
              <a:ext uri="{FF2B5EF4-FFF2-40B4-BE49-F238E27FC236}">
                <ns2:creationId id="{EFBE668B-AB13-408C-925A-0700EDAAB16B}"/>
              </a:ext>
            </a:extLst>
          </p:cNvPr>
          <p:cNvSpPr>
            <a:spLocks noGrp="1"/>
          </p:cNvSpPr>
          <p:nvPr/>
        </p:nvSpPr>
        <p:spPr>
          <a:xfrm>
            <a:off x="8382000" y="1428750"/>
            <a:ext cx="3429000" cy="3333750"/>
          </a:xfrm>
          <a:prstGeom prst="roundRect">
            <a:avLst>
              <a:gd name="adj" fmla="val 2286"/>
            </a:avLst>
          </a:prstGeom>
          <a:solidFill>
            <a:srgbClr val="D9E2F3"/>
          </a:solidFill>
          <a:ln w="11430">
            <a:solidFill>
              <a:srgbClr val="BFBFB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布局与边界</a:t>
            </a:r>
          </a:p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四周边距充足；对象不遮挡；放不下就拆页。</a:t>
            </a:r>
          </a:p>
        </p:txBody>
      </p:sp>
      <p:sp>
        <p:nvSpPr>
          <p:cNvPr id="6" name="check-red">
            <a:extLst>
              <a:ext uri="{FF2B5EF4-FFF2-40B4-BE49-F238E27FC236}">
                <ns2:creationId id="{0D01E34E-9B64-455E-853F-451C5A421AF1}"/>
              </a:ext>
            </a:extLst>
          </p:cNvPr>
          <p:cNvSpPr>
            <a:spLocks noGrp="1"/>
          </p:cNvSpPr>
          <p:nvPr/>
        </p:nvSpPr>
        <p:spPr>
          <a:xfrm>
            <a:off x="381000" y="5143500"/>
            <a:ext cx="11430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C00000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00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u="sng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关键否决项：</a:t>
            </a:r>
            <a:r>
              <a:rPr sz="2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缺单位、缺图例、内容顶格或无法复核模型设置时，不交付。</a:t>
            </a:r>
          </a:p>
        </p:txBody>
      </p:sp>
    </p:spTree>
    <p:extLst>
      <p:ext uri="{BB962C8B-B14F-4D97-AF65-F5344CB8AC3E}">
        <ns3:creationId val="1035460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"/>
        <a:ea typeface="Microsoft YaHei"/>
        <a:cs typeface="Calibri Light"/>
      </a:majorFont>
      <a:minorFont>
        <a:latin typeface="Microsoft YaHei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2026-10-11T12:53:18.8180000Z</dcterms:created>
  <dcterms:modified xsi:type="dcterms:W3CDTF">2026-10-11T12:53:18.8180000Z</dcterms:modified>
</coreProperties>
</file>